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038"/>
    <a:srgbClr val="1B2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0D9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BE-496F-8CEB-788A2CCA39E8}"/>
              </c:ext>
            </c:extLst>
          </c:dPt>
          <c:dPt>
            <c:idx val="1"/>
            <c:invertIfNegative val="0"/>
            <c:bubble3D val="0"/>
            <c:spPr>
              <a:solidFill>
                <a:srgbClr val="FFD9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BE-496F-8CEB-788A2CCA39E8}"/>
              </c:ext>
            </c:extLst>
          </c:dPt>
          <c:dPt>
            <c:idx val="2"/>
            <c:invertIfNegative val="0"/>
            <c:bubble3D val="0"/>
            <c:spPr>
              <a:solidFill>
                <a:srgbClr val="FF9F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BE-496F-8CEB-788A2CCA39E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BE-496F-8CEB-788A2CCA39E8}"/>
              </c:ext>
            </c:extLst>
          </c:dPt>
          <c:dPt>
            <c:idx val="4"/>
            <c:invertIfNegative val="0"/>
            <c:bubble3D val="0"/>
            <c:spPr>
              <a:solidFill>
                <a:srgbClr val="CC2F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BE-496F-8CEB-788A2CCA39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 DR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  <c:pt idx="4">
                  <c:v>Proliferative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2810</c:v>
                </c:pt>
                <c:pt idx="1">
                  <c:v>769</c:v>
                </c:pt>
                <c:pt idx="2">
                  <c:v>2298</c:v>
                </c:pt>
                <c:pt idx="3">
                  <c:v>421</c:v>
                </c:pt>
                <c:pt idx="4">
                  <c:v>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BE-496F-8CEB-788A2CCA39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CNN + LSTM Hybrid</c:v>
                </c:pt>
                <c:pt idx="1">
                  <c:v>InceptionResNetV2 + LSTM</c:v>
                </c:pt>
                <c:pt idx="2">
                  <c:v>MobileNetV2 + 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60.66</c:v>
                </c:pt>
                <c:pt idx="1">
                  <c:v>78.09</c:v>
                </c:pt>
                <c:pt idx="2">
                  <c:v>76.14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16-4D1F-93D0-1D37888275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Weighted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CNN + LSTM Hybrid</c:v>
                </c:pt>
                <c:pt idx="1">
                  <c:v>InceptionResNetV2 + LSTM</c:v>
                </c:pt>
                <c:pt idx="2">
                  <c:v>MobileNetV2 + LSTM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79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16-4D1F-93D0-1D37888275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Macro AUC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CNN + LSTM Hybrid</c:v>
                </c:pt>
                <c:pt idx="1">
                  <c:v>InceptionResNetV2 + LSTM</c:v>
                </c:pt>
                <c:pt idx="2">
                  <c:v>MobileNetV2 + LSTM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</c:v>
                </c:pt>
                <c:pt idx="1">
                  <c:v>93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16-4D1F-93D0-1D37888275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8BB8D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23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7B5EA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RetinaPredict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474720" cy="502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Based Diabetic Retinopathy Detection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— B.E. Computer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4754880" cy="1554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221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Rajveer Rai (B830)  •  Jeetkumar Rathod (B832)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Satam (B837)  •  Divyesh Shinde (B843)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Naina Kaushik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749040"/>
            <a:ext cx="210312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04104" y="4160520"/>
            <a:ext cx="210312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13248" y="4572000"/>
            <a:ext cx="210312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4572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structure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Proposed Solution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3483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Hybrid InceptionResNetV2 + LSTM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947672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 Stack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706624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465576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3483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Future Work &amp; Conclusion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Diabetic Retinopathy?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Clinical Background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1124712"/>
            <a:ext cx="4764024" cy="3721608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51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4480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(DR) is a microvascular complication of diabetes mellitus affecting the retina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preventable blindness in the working-age population worldwide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stages present with NO visible symptoms — detection requires fundus imaging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DR progresses through 5 severity stages up to complete blindness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screening and intervention can prevent up to 95% of vision loss cases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4370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IDF Diabetes Atlas 10th Ed. (2021)  |  WHO Global Report on Diabetes  |  Wilkinson et al. (2003)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0" y="960120"/>
            <a:ext cx="1600200" cy="9601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051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diabetes globally (2021)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96128" y="13075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7647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Atlas 10th Ed.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223760" y="960120"/>
            <a:ext cx="1600200" cy="9601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1051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develop DR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33488" y="13075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17647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Yau et al., Meta-analysis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0" y="2057400"/>
            <a:ext cx="1600200" cy="9601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diabetics by 2045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96128" y="2404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 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28620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Atlas 10th 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23760" y="2057400"/>
            <a:ext cx="1600200" cy="9601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cases go undetected early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33488" y="2404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8620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Report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0" y="3200400"/>
            <a:ext cx="3383280" cy="1691640"/>
          </a:xfrm>
          <a:prstGeom prst="rect">
            <a:avLst/>
          </a:prstGeom>
          <a:solidFill>
            <a:srgbClr val="1B2B4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DR Severity Stages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59552" y="3657600"/>
            <a:ext cx="603504" cy="50292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42432" y="4206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657600"/>
            <a:ext cx="603504" cy="5029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4206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76288" y="3657600"/>
            <a:ext cx="603504" cy="5029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59168" y="4206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34656" y="3657600"/>
            <a:ext cx="603504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17536" y="4206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93024" y="3657600"/>
            <a:ext cx="603504" cy="502920"/>
          </a:xfrm>
          <a:prstGeom prst="rect">
            <a:avLst/>
          </a:prstGeom>
          <a:solidFill>
            <a:srgbClr val="CC2F2F"/>
          </a:solidFill>
          <a:ln w="12700">
            <a:solidFill>
              <a:srgbClr val="CC2F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75904" y="4206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1B2B4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leaves no symptoms in its early stages. By the time a patient notices vision degradation, significant irreversible damage has already occurred. Manual screening by ophthalmologists is time-consuming, expensive, and inaccessible in resource-limited settings.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Specialists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70662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&lt;1 ophthalmologist per 100,000 population in rural areas [NPCB India, 2019]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286000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270662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grading of a single fundus image takes 3-5 min; mass screening is infeasible [Abramoff et al., 2016]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Subjectivity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40325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 in DR grading can reach 20-30% between clinicians [Wilkinson et al., 2003]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611880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611880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40325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50% of DR cases in developing countries detected only at moderate-to-severe stage [Bellemo et al., 2019]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(2021-2025) in deep learning-based DR detection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61913"/>
              </p:ext>
            </p:extLst>
          </p:nvPr>
        </p:nvGraphicFramePr>
        <p:xfrm>
          <a:off x="245942" y="1124712"/>
          <a:ext cx="8550587" cy="3703320"/>
        </p:xfrm>
        <a:graphic>
          <a:graphicData uri="http://schemas.openxmlformats.org/drawingml/2006/table">
            <a:tbl>
              <a:tblPr/>
              <a:tblGrid>
                <a:gridCol w="1720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6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1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Das et al. [Base Paper]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DRFEC: CNN models (InceptionResNetV2, MobileNetV2, DenseNet, ResNet, EfficientNets) for DR feature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18+ CNN architectures on fundus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B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hybrid temporal model; no web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Kalyani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Capsule Networks for DR stage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dataset; resource-heavy; no 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Rajarajeshwari &amp; Selvi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AI/CNN review for DR detection via teleophthalmology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 model; poor explainability noted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Vohra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AI (ESP32-CAM + CNN) for DR and glaucoma detection at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multi-center validation; no explainable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Asif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review: traditional vs AI-driven DR diagnosis; federated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bias in studies; limited real-world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—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07592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4904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ophthalmologists required; 3-5 min per image [Abramoff et al., 2016]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0328" y="130759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30952" y="14904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screening infeasible without automation [Bellemo et al., 2019]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606040"/>
            <a:ext cx="292608" cy="292608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Variability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disagreement up to 20-30% [Wilkinson et al., 2003]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50008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260604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30952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shortage in rural/low-income regions [NPCB India, 2019]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904488"/>
            <a:ext cx="292608" cy="292608"/>
          </a:xfrm>
          <a:prstGeom prst="ellipse">
            <a:avLst/>
          </a:prstGeom>
          <a:solidFill>
            <a:srgbClr val="8BB8D4"/>
          </a:solidFill>
          <a:ln w="12700">
            <a:solidFill>
              <a:srgbClr val="8BB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739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Methods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0873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ML models lack clinical-grade accuracy [Revathy et al., 2020]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48456"/>
            <a:ext cx="4114800" cy="11430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3904488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0952" y="3739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40873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systems give no visual explanation for decisions [Rajarajeshwari, 2023]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RetinaPredict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explainable DR detection and grading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" y="1124712"/>
            <a:ext cx="4105656" cy="37947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retinal fundus images (PNG/JPG) as input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Preprocesses: resize to 224×224, normalize, augment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5 DR severity stages (0–4)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per-class confidence scores via Softmax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for interpretable AI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diagnostic report per patient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 (Streamlit) — no installation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train, evaluate, compare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87552"/>
            <a:ext cx="4023360" cy="3931920"/>
          </a:xfrm>
          <a:prstGeom prst="rect">
            <a:avLst/>
          </a:prstGeom>
          <a:solidFill>
            <a:srgbClr val="1B2B4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481328"/>
            <a:ext cx="3611880" cy="411480"/>
          </a:xfrm>
          <a:prstGeom prst="rect">
            <a:avLst/>
          </a:prstGeom>
          <a:solidFill>
            <a:srgbClr val="142038"/>
          </a:solidFill>
          <a:ln w="6350">
            <a:solidFill>
              <a:srgbClr val="7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813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Fundus Image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892808"/>
            <a:ext cx="0" cy="16459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057400"/>
            <a:ext cx="3611880" cy="411480"/>
          </a:xfrm>
          <a:prstGeom prst="rect">
            <a:avLst/>
          </a:prstGeom>
          <a:solidFill>
            <a:srgbClr val="142038"/>
          </a:solidFill>
          <a:ln w="635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057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Preprocessing &amp; Augmentation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468880"/>
            <a:ext cx="0" cy="16459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633472"/>
            <a:ext cx="3611880" cy="411480"/>
          </a:xfrm>
          <a:prstGeom prst="rect">
            <a:avLst/>
          </a:prstGeom>
          <a:solidFill>
            <a:srgbClr val="142038"/>
          </a:solidFill>
          <a:ln w="635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6334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InceptionResNetV2 Feature Extraction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044952"/>
            <a:ext cx="0" cy="16459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209544"/>
            <a:ext cx="3611880" cy="411480"/>
          </a:xfrm>
          <a:prstGeom prst="rect">
            <a:avLst/>
          </a:prstGeom>
          <a:solidFill>
            <a:srgbClr val="142038"/>
          </a:solidFill>
          <a:ln w="63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029200" y="32095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LSTM Sequence Learning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3621024"/>
            <a:ext cx="0" cy="16459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785616"/>
            <a:ext cx="3611880" cy="411480"/>
          </a:xfrm>
          <a:prstGeom prst="rect">
            <a:avLst/>
          </a:prstGeom>
          <a:solidFill>
            <a:srgbClr val="142038"/>
          </a:solidFill>
          <a:ln>
            <a:solidFill>
              <a:srgbClr val="7030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Softmax Classification (5 classes)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4197096"/>
            <a:ext cx="0" cy="16459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361688"/>
            <a:ext cx="3611880" cy="411480"/>
          </a:xfrm>
          <a:prstGeom prst="rect">
            <a:avLst/>
          </a:prstGeom>
          <a:solidFill>
            <a:srgbClr val="142038"/>
          </a:solidFill>
          <a:ln w="635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3616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Diagnosis + Grad-CAM + Report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APTOS 2019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Pacific Tele-Ophthalmology Society Blindness Detection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865376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6,841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60904" y="1078992"/>
            <a:ext cx="1865376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Classes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15768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192024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03720" y="1078992"/>
            <a:ext cx="192024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13448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2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201168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2011680"/>
            <a:ext cx="3200400" cy="283464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33872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33872" y="2450592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APTOS 2019 Kaggle Challenge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Color fundus photographs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PNG / JPEG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addressed via class weights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flip, shear, rescale, rotation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resize → normalize → enhance contrast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5,472  |  Validation: 1,369 images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deep learning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78992" cy="1005840"/>
          </a:xfrm>
          <a:prstGeom prst="rect">
            <a:avLst/>
          </a:prstGeom>
          <a:solidFill>
            <a:srgbClr val="1B4A6B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Fundus Image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36192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0784" y="1234440"/>
            <a:ext cx="1078992" cy="1005840"/>
          </a:xfrm>
          <a:prstGeom prst="rect">
            <a:avLst/>
          </a:prstGeom>
          <a:solidFill>
            <a:srgbClr val="1B4A6B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0784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00784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79776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1234440"/>
            <a:ext cx="1078992" cy="1005840"/>
          </a:xfrm>
          <a:prstGeom prst="rect">
            <a:avLst/>
          </a:prstGeom>
          <a:solidFill>
            <a:srgbClr val="1B4A6B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44368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7952" y="1234440"/>
            <a:ext cx="1078992" cy="1005840"/>
          </a:xfrm>
          <a:prstGeom prst="rect">
            <a:avLst/>
          </a:prstGeom>
          <a:solidFill>
            <a:srgbClr val="7B5EA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87952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InceptionResNetV2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66944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31536" y="1234440"/>
            <a:ext cx="1078992" cy="1005840"/>
          </a:xfrm>
          <a:prstGeom prst="rect">
            <a:avLst/>
          </a:prstGeom>
          <a:solidFill>
            <a:srgbClr val="7B5EA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31536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Layer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10528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234440"/>
            <a:ext cx="1078992" cy="1005840"/>
          </a:xfrm>
          <a:prstGeom prst="rect">
            <a:avLst/>
          </a:prstGeom>
          <a:solidFill>
            <a:srgbClr val="1B4A6B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54112" y="1737360"/>
            <a:ext cx="16459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18704" y="1234440"/>
            <a:ext cx="1078992" cy="1005840"/>
          </a:xfrm>
          <a:prstGeom prst="rect">
            <a:avLst/>
          </a:prstGeom>
          <a:solidFill>
            <a:srgbClr val="0F4A3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18704" y="12801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18704" y="165506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00784" y="2286000"/>
            <a:ext cx="5780269" cy="173736"/>
          </a:xfrm>
          <a:prstGeom prst="rect">
            <a:avLst/>
          </a:prstGeom>
          <a:solidFill>
            <a:schemeClr val="tx1"/>
          </a:solidFill>
          <a:ln>
            <a:solidFill>
              <a:srgbClr val="7030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0" y="2743200"/>
            <a:ext cx="1188720" cy="41148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5960" y="2459736"/>
            <a:ext cx="0" cy="320040"/>
          </a:xfrm>
          <a:prstGeom prst="line">
            <a:avLst/>
          </a:prstGeom>
          <a:noFill/>
          <a:ln w="12700">
            <a:solidFill>
              <a:srgbClr val="00D97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2743200"/>
            <a:ext cx="1188720" cy="4114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2459736"/>
            <a:ext cx="0" cy="320040"/>
          </a:xfrm>
          <a:prstGeom prst="line">
            <a:avLst/>
          </a:prstGeom>
          <a:noFill/>
          <a:ln w="12700">
            <a:solidFill>
              <a:srgbClr val="FFD9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2743200"/>
            <a:ext cx="1188720" cy="4114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459736"/>
            <a:ext cx="0" cy="320040"/>
          </a:xfrm>
          <a:prstGeom prst="line">
            <a:avLst/>
          </a:prstGeom>
          <a:noFill/>
          <a:ln w="12700">
            <a:solidFill>
              <a:srgbClr val="FF9F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2743200"/>
            <a:ext cx="118872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2454693"/>
            <a:ext cx="0" cy="32004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2743200"/>
            <a:ext cx="1188720" cy="411480"/>
          </a:xfrm>
          <a:prstGeom prst="rect">
            <a:avLst/>
          </a:prstGeom>
          <a:solidFill>
            <a:srgbClr val="CC2F2F"/>
          </a:solidFill>
          <a:ln w="12700">
            <a:solidFill>
              <a:srgbClr val="CC2F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52360" y="2454690"/>
            <a:ext cx="0" cy="320040"/>
          </a:xfrm>
          <a:prstGeom prst="line">
            <a:avLst/>
          </a:prstGeom>
          <a:noFill/>
          <a:ln w="12700">
            <a:solidFill>
              <a:srgbClr val="CC2F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291840"/>
            <a:ext cx="822960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&amp; Deployment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0080" y="37124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Grad-CAM heatmap for visual explainability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800600" y="37124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scores per class shown in bar chart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4187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PDF diagnostic report generated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00600" y="4187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web app deployed locally / cloud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InceptionResNetV2 + LSTM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spatial feature extraction with sequence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60520" cy="3840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InceptionResNetV2 (CNN Backbone)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layers deep; 55.1M total parameters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Inception modules (multi-scale) with Residual connections (skip connections)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Alleviates vanishing gradient via skip connections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— transfer learning applied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backbone with class weights for imbalance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size: 224×224×3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78992"/>
            <a:ext cx="4069080" cy="3840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789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(Sequence Learner)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LSTM hidden units capture feature inter-dependencies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853,125 trainable parameters (fine-tuned)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temporal patterns in extracted feature maps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layer to prevent overfitting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before LSTM input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Dense + Softmax → 5-class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864608"/>
            <a:ext cx="8394192" cy="1554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Explored &amp; Compared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CNN architectures + our proposed hybrid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996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CNN; first to use ReLU activation &amp; GPU acceleration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02412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4996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connectivity; strong gradient flow; reduced overfitting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2412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4996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skip connections; enables very deep network training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779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3x3 filters; excellent transfer learning capability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230428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779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convolutions; mobile-optimized design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304288"/>
            <a:ext cx="2697480" cy="10972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InceptionResNetV2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779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inception + residual blocks — our backbone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2697480" cy="1097280"/>
          </a:xfrm>
          <a:prstGeom prst="rect">
            <a:avLst/>
          </a:prstGeom>
          <a:solidFill>
            <a:srgbClr val="1B3A6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84448"/>
            <a:ext cx="64008" cy="10972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(IRV2+LSTM)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0599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Proposed — spatial + sequence learning; best overall performance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7373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737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7373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64008" cy="1737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(custom)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64008" cy="173736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6499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(frontend)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(Admin/User)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7373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926080"/>
            <a:ext cx="64008" cy="17373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6499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5 processor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(no dedicated GPU)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GB storage (system)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4160520" cy="39319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AMD Ryzen 5 or equivalent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GB minimum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512 GB system storage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1920x1080 resolution recommended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CPU-based inference (no GPU required for deployment)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Required for initial setup &amp; library install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987552"/>
            <a:ext cx="4069080" cy="39319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0789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481328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10/11, Ubuntu 20.04+, or macOS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with pip/conda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 + Keras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NumPy, Pandas, Pillow, Matplotlib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web interface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or PyCharm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Chrome / Edge (latest)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— Admin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Detect Web App | Built with Streamlit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6101255" cy="37684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987552"/>
            <a:ext cx="2011680" cy="3840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078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95160" y="1444752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 &amp; evaluated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6,841 dataset images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chart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status table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 buttons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evaluation summary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— Model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hyperparameter training interface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6088643" cy="3760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987552"/>
            <a:ext cx="2011680" cy="3840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078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Options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95160" y="1444752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dropdown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/ LR / Batch sliders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toggle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backbone option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training progress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acc/loss graph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— Fundus Image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16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DR detection with confidence scores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4937760" cy="38404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87552"/>
            <a:ext cx="338328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Diagnosis Result showing Stage 4 — Proliferative DR   |   Right: Grad-CAM heatmap highlighting lesion regions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— Auto-Generated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3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diagnostic report per patient scan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4023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987552"/>
            <a:ext cx="4206240" cy="3840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444752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 &amp; model used for prediction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DR stage with clinical description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fundus image + Grad-CAM heatmap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for all 5 classes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AI-assisted, not a medical certificate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 for patient records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InceptionResNetV2 + LSTM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 on APTOS 2019 test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920240" cy="9144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78.09%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33472" y="987552"/>
            <a:ext cx="1920240" cy="9144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Weighted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09744" y="987552"/>
            <a:ext cx="1920240" cy="9144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(QW)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9472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86016" y="987552"/>
            <a:ext cx="1920240" cy="91440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95744" y="1335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2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6217920" cy="2834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858000" y="2011680"/>
            <a:ext cx="2011680" cy="283464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67728" y="2084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395728"/>
          <a:ext cx="2011680" cy="230428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3 Hybrid Architectures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65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evaluation from the app dashboard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8412480" cy="219456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457200" y="3273552"/>
          <a:ext cx="8412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ROC Curves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974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InceptionResNetV2 + LSTM on test set (1,027 images)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841248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DR: AUC=0.99  |  Mild: AUC=0.94  |  Moderate: AUC=0.91  |  Severe: AUC=0.91  |  Proliferative: AUC=0.90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Classification Report &amp; Training History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8412480" cy="3977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64008" cy="1188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(No DR) had 2,810 samples vs only 421 for Stage 3 (Severe DR). Addressed via class weights and oversampling in augmentation pipeline.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24128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Image Augmentation and Dropout, early training runs showed train-val accuracy gap. Resolved via aggressive augmentation, early stopping, and fine-tuning schedule.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50008"/>
            <a:ext cx="64008" cy="11887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Variations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7706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fundus images had lighting artifacts, blur, and eyelash occlusions affecting feature extraction. Contrast enhancement and normalization applied as preprocessing.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35000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350008"/>
            <a:ext cx="64008" cy="1188720"/>
          </a:xfrm>
          <a:prstGeom prst="rect">
            <a:avLst/>
          </a:prstGeom>
          <a:solidFill>
            <a:srgbClr val="8BB8D4"/>
          </a:solidFill>
          <a:ln w="12700">
            <a:solidFill>
              <a:srgbClr val="8BB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Resources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7706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InceptionResNetV2+LSTM (55M parameters) on 50 epochs is GPU-intensive. Training done on local GPU; inference served via CPU for web app.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75888"/>
            <a:ext cx="64008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Accuracy on Severe DR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3 &amp; 4 (Severe + Proliferative) had fewest samples and lowest per-class F1. Further dataset expansion and synthetic augmentation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75888"/>
            <a:ext cx="411480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675888"/>
            <a:ext cx="64008" cy="1188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965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CNN feature maps correctly for LSTM input without spatial loss required careful architecture design and multiple iterations.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77240" cy="82296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024128"/>
            <a:ext cx="749808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024128"/>
            <a:ext cx="6400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097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multi-center datasets (Messidor-2, EyePACS) to improve generalization across diverse patient populations and imaging equipment.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77240" cy="822960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25880" y="2057400"/>
            <a:ext cx="749808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057400"/>
            <a:ext cx="64008" cy="8229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2130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24505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grid/Bayesian search for optimal LR, batch size, and architecture depth. Implement learning rate scheduling and warmup strategies.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777240" cy="822960"/>
          </a:xfrm>
          <a:prstGeom prst="rect">
            <a:avLst/>
          </a:prstGeom>
          <a:solidFill>
            <a:srgbClr val="00D97E">
              <a:alpha val="80000"/>
            </a:srgbClr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25880" y="3090672"/>
            <a:ext cx="749808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3090672"/>
            <a:ext cx="64008" cy="82296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31638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34838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prospective clinical trial with ophthalmologists at partner hospitals. Measure sensitivity/specificity against expert grading as ground truth.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777240" cy="822960"/>
          </a:xfrm>
          <a:prstGeom prst="rect">
            <a:avLst/>
          </a:prstGeom>
          <a:solidFill>
            <a:srgbClr val="FF9F43">
              <a:alpha val="80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23944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25880" y="4123944"/>
            <a:ext cx="7498080" cy="82296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4123944"/>
            <a:ext cx="64008" cy="8229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41970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5171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RetinaPredict on AWS/GCP with HIPAA-compliant storage for real-world telemedicine integration in rural screening camps.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94192" cy="1234440"/>
          </a:xfrm>
          <a:prstGeom prst="rect">
            <a:avLst/>
          </a:prstGeom>
          <a:solidFill>
            <a:srgbClr val="1B3A6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RetinaPredict demonstrates that a Hybrid InceptionResNetV2 + LSTM model can effectively classify diabetic retinopathy into 5 severity stages from retinal fundus images, achieving 78.09% accuracy, 0.850 Quadratic Kappa, and 0.930 Macro AUC on the APTOS 2019 dataset — outperforming standalone CNN baselines across key metrics.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40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34086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IRV2+LSTM achieves best Kappa (0.850) and AUC (0.930) — clinically significant discrimination between severity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743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95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88950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provide visual explanations doctors can trust, highlighting hemorrhages and microaneurysms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381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43814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Streamlit web app with Admin &amp; User roles, model training, evaluation, comparison, and PDF report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86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98678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reduces screening time from 3–5 min per image to seconds, enabling scalable mass screening programs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2743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354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53542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(Stage 3) and Proliferative (Stage 4) DR classes showed lower F1 scores due to class imbalance — addressed in future work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6400800" cy="6400800"/>
          </a:xfrm>
          <a:prstGeom prst="ellipse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4114800" cy="411480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743200" y="2633472"/>
            <a:ext cx="36576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RetinaPredict — Deep Learning Based Diabetic Retinopathy Detection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2001</Words>
  <Application>Microsoft Office PowerPoint</Application>
  <PresentationFormat>On-screen Show (16:9)</PresentationFormat>
  <Paragraphs>389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RetinaPredict – Deep Learning Based Diabetic Retinopathy Detection</dc:title>
  <dc:subject>PptxGenJS Presentation</dc:subject>
  <dc:creator>Group 7</dc:creator>
  <cp:lastModifiedBy>Divyesh Shinde</cp:lastModifiedBy>
  <cp:revision>4</cp:revision>
  <dcterms:created xsi:type="dcterms:W3CDTF">2026-03-17T16:23:46Z</dcterms:created>
  <dcterms:modified xsi:type="dcterms:W3CDTF">2026-04-24T04:43:13Z</dcterms:modified>
</cp:coreProperties>
</file>